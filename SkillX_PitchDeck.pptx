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ECE8DF"/>
                </a:solidFill>
                <a:latin typeface="Calibri"/>
              </a:defRPr>
            </a:pPr>
            <a:r>
              <a:t>SkillX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47472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B3D9"/>
                </a:solidFill>
                <a:latin typeface="Calibri"/>
              </a:defRPr>
            </a:pPr>
            <a:r>
              <a:t>Decentralized Freelance Marketplace on Stellar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389120"/>
            <a:ext cx="7619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D929D"/>
                </a:solidFill>
                <a:latin typeface="Calibri"/>
              </a:defRPr>
            </a:pPr>
            <a:r>
              <a:t>Trustless milestone escrow. Clients fund, freelancers deliver, smart contracts release payment.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66928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D929D"/>
                </a:solidFill>
                <a:latin typeface="Calibri"/>
              </a:defRPr>
            </a:pPr>
            <a:r>
              <a:t>Soroban  •  React + Vite  •  On-chain Escrow  •  Live on Testnet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1A9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CE8DF"/>
                </a:solidFill>
                <a:latin typeface="Calibri"/>
              </a:defRPr>
            </a:pPr>
            <a:r>
              <a:t>Freelancing is broken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1371600"/>
          </a:xfrm>
          <a:prstGeom prst="roundRect">
            <a:avLst/>
          </a:prstGeom>
          <a:solidFill>
            <a:srgbClr val="1A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defRPr sz="1600" b="1">
                <a:solidFill>
                  <a:srgbClr val="FFD1A9"/>
                </a:solidFill>
                <a:latin typeface="Calibri"/>
              </a:defRPr>
            </a:pPr>
            <a:r>
              <a:t>💸  Payment Disputes</a:t>
            </a:r>
          </a:p>
          <a:p>
            <a:pPr>
              <a:spcBef>
                <a:spcPts val="600"/>
              </a:spcBef>
              <a:defRPr sz="1200">
                <a:solidFill>
                  <a:srgbClr val="8D929D"/>
                </a:solidFill>
                <a:latin typeface="Calibri"/>
              </a:defRPr>
            </a:pPr>
            <a:r>
              <a:t>Clients vanish after delivery. Freelancers have no recourse on traditional platforms.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2011680"/>
            <a:ext cx="5120640" cy="1371600"/>
          </a:xfrm>
          <a:prstGeom prst="roundRect">
            <a:avLst/>
          </a:prstGeom>
          <a:solidFill>
            <a:srgbClr val="1A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defRPr sz="1600" b="1">
                <a:solidFill>
                  <a:srgbClr val="FFD1A9"/>
                </a:solidFill>
                <a:latin typeface="Calibri"/>
              </a:defRPr>
            </a:pPr>
            <a:r>
              <a:t>🏦  Platform Lock-in</a:t>
            </a:r>
          </a:p>
          <a:p>
            <a:pPr>
              <a:spcBef>
                <a:spcPts val="600"/>
              </a:spcBef>
              <a:defRPr sz="1200">
                <a:solidFill>
                  <a:srgbClr val="8D929D"/>
                </a:solidFill>
                <a:latin typeface="Calibri"/>
              </a:defRPr>
            </a:pPr>
            <a:r>
              <a:t>Upwork/Fiverr take 10–20% fees and fully control the payment pipeline.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5120640" cy="1371600"/>
          </a:xfrm>
          <a:prstGeom prst="roundRect">
            <a:avLst/>
          </a:prstGeom>
          <a:solidFill>
            <a:srgbClr val="1A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defRPr sz="1600" b="1">
                <a:solidFill>
                  <a:srgbClr val="FFD1A9"/>
                </a:solidFill>
                <a:latin typeface="Calibri"/>
              </a:defRPr>
            </a:pPr>
            <a:r>
              <a:t>🌍  Global Barriers</a:t>
            </a:r>
          </a:p>
          <a:p>
            <a:pPr>
              <a:spcBef>
                <a:spcPts val="600"/>
              </a:spcBef>
              <a:defRPr sz="1200">
                <a:solidFill>
                  <a:srgbClr val="8D929D"/>
                </a:solidFill>
                <a:latin typeface="Calibri"/>
              </a:defRPr>
            </a:pPr>
            <a:r>
              <a:t>Cross-border payments take days, incur forex fees, exclude unbanked workers.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749039"/>
            <a:ext cx="5120640" cy="1371600"/>
          </a:xfrm>
          <a:prstGeom prst="roundRect">
            <a:avLst/>
          </a:prstGeom>
          <a:solidFill>
            <a:srgbClr val="1A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defRPr sz="1600" b="1">
                <a:solidFill>
                  <a:srgbClr val="FFD1A9"/>
                </a:solidFill>
                <a:latin typeface="Calibri"/>
              </a:defRPr>
            </a:pPr>
            <a:r>
              <a:t>🤷  Zero Transparency</a:t>
            </a:r>
          </a:p>
          <a:p>
            <a:pPr>
              <a:spcBef>
                <a:spcPts val="600"/>
              </a:spcBef>
              <a:defRPr sz="1200">
                <a:solidFill>
                  <a:srgbClr val="8D929D"/>
                </a:solidFill>
                <a:latin typeface="Calibri"/>
              </a:defRPr>
            </a:pPr>
            <a:r>
              <a:t>Work status, payment releases, and disputes are opaque black boxes.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3FFD9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CE8DF"/>
                </a:solidFill>
                <a:latin typeface="Calibri"/>
              </a:defRPr>
            </a:pPr>
            <a:r>
              <a:t>Trustless milestone escrow on Stellar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D929D"/>
                </a:solidFill>
                <a:latin typeface="Calibri"/>
              </a:defRPr>
            </a:pPr>
            <a:r>
              <a:t>Every job is backed by on-chain escrow. No middleman — smart contracts hold and release funds.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1920240" cy="1188720"/>
          </a:xfrm>
          <a:prstGeom prst="roundRect">
            <a:avLst/>
          </a:prstGeom>
          <a:solidFill>
            <a:srgbClr val="1A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defRPr sz="1600" b="1">
                <a:solidFill>
                  <a:srgbClr val="D1B3FF"/>
                </a:solidFill>
                <a:latin typeface="Calibri"/>
              </a:defRPr>
            </a:pPr>
            <a:r>
              <a:t>📝 Create Job</a:t>
            </a:r>
          </a:p>
          <a:p>
            <a:pPr>
              <a:spcBef>
                <a:spcPts val="600"/>
              </a:spcBef>
              <a:defRPr sz="1200">
                <a:solidFill>
                  <a:srgbClr val="8D929D"/>
                </a:solidFill>
                <a:latin typeface="Calibr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2651760" y="3291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D929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2926080"/>
            <a:ext cx="1920240" cy="1188720"/>
          </a:xfrm>
          <a:prstGeom prst="roundRect">
            <a:avLst/>
          </a:prstGeom>
          <a:solidFill>
            <a:srgbClr val="1A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defRPr sz="1600" b="1">
                <a:solidFill>
                  <a:srgbClr val="B3F0FF"/>
                </a:solidFill>
                <a:latin typeface="Calibri"/>
              </a:defRPr>
            </a:pPr>
            <a:r>
              <a:t>🔒 Fund Escrow</a:t>
            </a:r>
          </a:p>
          <a:p>
            <a:pPr>
              <a:spcBef>
                <a:spcPts val="600"/>
              </a:spcBef>
              <a:defRPr sz="1200">
                <a:solidFill>
                  <a:srgbClr val="8D929D"/>
                </a:solidFill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937760" y="3291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D929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2926080"/>
            <a:ext cx="1920240" cy="1188720"/>
          </a:xfrm>
          <a:prstGeom prst="roundRect">
            <a:avLst/>
          </a:prstGeom>
          <a:solidFill>
            <a:srgbClr val="1A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defRPr sz="1600" b="1">
                <a:solidFill>
                  <a:srgbClr val="FFF176"/>
                </a:solidFill>
                <a:latin typeface="Calibri"/>
              </a:defRPr>
            </a:pPr>
            <a:r>
              <a:t>🛠️ Submit Work</a:t>
            </a:r>
          </a:p>
          <a:p>
            <a:pPr>
              <a:spcBef>
                <a:spcPts val="600"/>
              </a:spcBef>
              <a:defRPr sz="1200">
                <a:solidFill>
                  <a:srgbClr val="8D929D"/>
                </a:solidFill>
                <a:latin typeface="Calibr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223760" y="3291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D929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926080"/>
            <a:ext cx="1920240" cy="1188720"/>
          </a:xfrm>
          <a:prstGeom prst="roundRect">
            <a:avLst/>
          </a:prstGeom>
          <a:solidFill>
            <a:srgbClr val="1A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defRPr sz="1600" b="1">
                <a:solidFill>
                  <a:srgbClr val="B3FFD9"/>
                </a:solidFill>
                <a:latin typeface="Calibri"/>
              </a:defRPr>
            </a:pPr>
            <a:r>
              <a:t>✅ Approve</a:t>
            </a:r>
          </a:p>
          <a:p>
            <a:pPr>
              <a:spcBef>
                <a:spcPts val="600"/>
              </a:spcBef>
              <a:defRPr sz="1200">
                <a:solidFill>
                  <a:srgbClr val="8D929D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509760" y="3291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D929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2926080"/>
            <a:ext cx="1920240" cy="1188720"/>
          </a:xfrm>
          <a:prstGeom prst="roundRect">
            <a:avLst/>
          </a:prstGeom>
          <a:solidFill>
            <a:srgbClr val="1A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defRPr sz="1600" b="1">
                <a:solidFill>
                  <a:srgbClr val="FFB3D9"/>
                </a:solidFill>
                <a:latin typeface="Calibri"/>
              </a:defRPr>
            </a:pPr>
            <a:r>
              <a:t>💰 Auto-release</a:t>
            </a:r>
          </a:p>
          <a:p>
            <a:pPr>
              <a:spcBef>
                <a:spcPts val="600"/>
              </a:spcBef>
              <a:defRPr sz="1200">
                <a:solidFill>
                  <a:srgbClr val="8D929D"/>
                </a:solidFill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D929D"/>
                </a:solidFill>
                <a:latin typeface="Calibri"/>
              </a:defRPr>
            </a:pPr>
            <a:r>
              <a:t>One wallet signature per action. Funds release instantly on approval.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3F0FF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CE8DF"/>
                </a:solidFill>
                <a:latin typeface="Calibri"/>
              </a:defRPr>
            </a:pPr>
            <a:r>
              <a:t>A $12B+ market ready for disruption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B3F0FF"/>
                </a:solidFill>
                <a:latin typeface="Calibri"/>
              </a:defRPr>
            </a:pPr>
            <a:r>
              <a:t>$12.3B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D929D"/>
                </a:solidFill>
                <a:latin typeface="Calibri"/>
              </a:defRPr>
            </a:pPr>
            <a:r>
              <a:t>Global freelance platform</a:t>
            </a:r>
            <a:br/>
            <a:r>
              <a:t>revenue (2025)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194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B3FFD9"/>
                </a:solidFill>
                <a:latin typeface="Calibri"/>
              </a:defRPr>
            </a:pPr>
            <a:r>
              <a:t>1.57B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3108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D929D"/>
                </a:solidFill>
                <a:latin typeface="Calibri"/>
              </a:defRPr>
            </a:pPr>
            <a:r>
              <a:t>Freelancers</a:t>
            </a:r>
            <a:br/>
            <a:r>
              <a:t>worldwide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194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176"/>
                </a:solidFill>
                <a:latin typeface="Calibri"/>
              </a:defRPr>
            </a:pPr>
            <a:r>
              <a:t>46%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3108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D929D"/>
                </a:solidFill>
                <a:latin typeface="Calibri"/>
              </a:defRPr>
            </a:pPr>
            <a:r>
              <a:t>Gen Z prefer</a:t>
            </a:r>
            <a:br/>
            <a:r>
              <a:t>freelance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120640" cy="1463040"/>
          </a:xfrm>
          <a:prstGeom prst="roundRect">
            <a:avLst/>
          </a:prstGeom>
          <a:solidFill>
            <a:srgbClr val="1A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defRPr sz="1600" b="1">
                <a:solidFill>
                  <a:srgbClr val="FFD1A9"/>
                </a:solidFill>
                <a:latin typeface="Calibri"/>
              </a:defRPr>
            </a:pPr>
            <a:r>
              <a:t>Traditional Platforms</a:t>
            </a:r>
          </a:p>
          <a:p>
            <a:pPr>
              <a:spcBef>
                <a:spcPts val="600"/>
              </a:spcBef>
              <a:defRPr sz="1200">
                <a:solidFill>
                  <a:srgbClr val="8D929D"/>
                </a:solidFill>
                <a:latin typeface="Calibri"/>
              </a:defRPr>
            </a:pPr>
            <a:r>
              <a:t>10–20% commission, 3–5 day delays,</a:t>
            </a:r>
            <a:br/>
            <a:r>
              <a:t>centralized disputes, KYC gatekeeping.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114800"/>
            <a:ext cx="5120640" cy="1463040"/>
          </a:xfrm>
          <a:prstGeom prst="roundRect">
            <a:avLst/>
          </a:prstGeom>
          <a:solidFill>
            <a:srgbClr val="1A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defRPr sz="1600" b="1">
                <a:solidFill>
                  <a:srgbClr val="B3FFD9"/>
                </a:solidFill>
                <a:latin typeface="Calibri"/>
              </a:defRPr>
            </a:pPr>
            <a:r>
              <a:t>SkillX</a:t>
            </a:r>
          </a:p>
          <a:p>
            <a:pPr>
              <a:spcBef>
                <a:spcPts val="600"/>
              </a:spcBef>
              <a:defRPr sz="1200">
                <a:solidFill>
                  <a:srgbClr val="8D929D"/>
                </a:solidFill>
                <a:latin typeface="Calibri"/>
              </a:defRPr>
            </a:pPr>
            <a:r>
              <a:t>Near-zero fees (Stellar tx costs only),</a:t>
            </a:r>
            <a:br/>
            <a:r>
              <a:t>instant payments, on-chain transparency.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1B3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CE8DF"/>
                </a:solidFill>
                <a:latin typeface="Calibri"/>
              </a:defRPr>
            </a:pPr>
            <a:r>
              <a:t>Full-stack hybrid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2011680"/>
            <a:ext cx="1920240" cy="914400"/>
          </a:xfrm>
          <a:prstGeom prst="roundRect">
            <a:avLst/>
          </a:prstGeom>
          <a:solidFill>
            <a:srgbClr val="1A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defRPr sz="1600" b="1">
                <a:solidFill>
                  <a:srgbClr val="FFB3D9"/>
                </a:solidFill>
                <a:latin typeface="Calibri"/>
              </a:defRPr>
            </a:pPr>
            <a:r>
              <a:t>React + Vite</a:t>
            </a:r>
          </a:p>
          <a:p>
            <a:pPr>
              <a:spcBef>
                <a:spcPts val="600"/>
              </a:spcBef>
              <a:defRPr sz="1200">
                <a:solidFill>
                  <a:srgbClr val="8D929D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011680"/>
            <a:ext cx="1920240" cy="914400"/>
          </a:xfrm>
          <a:prstGeom prst="roundRect">
            <a:avLst/>
          </a:prstGeom>
          <a:solidFill>
            <a:srgbClr val="1A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defRPr sz="1600" b="1">
                <a:solidFill>
                  <a:srgbClr val="B3F0FF"/>
                </a:solidFill>
                <a:latin typeface="Calibri"/>
              </a:defRPr>
            </a:pPr>
            <a:r>
              <a:t>Freighter</a:t>
            </a:r>
          </a:p>
          <a:p>
            <a:pPr>
              <a:spcBef>
                <a:spcPts val="600"/>
              </a:spcBef>
              <a:defRPr sz="1200">
                <a:solidFill>
                  <a:srgbClr val="8D929D"/>
                </a:solidFill>
                <a:latin typeface="Calibri"/>
              </a:defRPr>
            </a:pPr>
            <a:r>
              <a:t>Wallet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3291840"/>
            <a:ext cx="1920240" cy="914400"/>
          </a:xfrm>
          <a:prstGeom prst="roundRect">
            <a:avLst/>
          </a:prstGeom>
          <a:solidFill>
            <a:srgbClr val="1A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defRPr sz="1600" b="1">
                <a:solidFill>
                  <a:srgbClr val="B3FFD9"/>
                </a:solidFill>
                <a:latin typeface="Calibri"/>
              </a:defRPr>
            </a:pPr>
            <a:r>
              <a:t>Express API</a:t>
            </a:r>
          </a:p>
          <a:p>
            <a:pPr>
              <a:spcBef>
                <a:spcPts val="600"/>
              </a:spcBef>
              <a:defRPr sz="1200">
                <a:solidFill>
                  <a:srgbClr val="8D929D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291840"/>
            <a:ext cx="1920240" cy="914400"/>
          </a:xfrm>
          <a:prstGeom prst="roundRect">
            <a:avLst/>
          </a:prstGeom>
          <a:solidFill>
            <a:srgbClr val="1A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defRPr sz="1600" b="1">
                <a:solidFill>
                  <a:srgbClr val="FFF176"/>
                </a:solidFill>
                <a:latin typeface="Calibri"/>
              </a:defRPr>
            </a:pPr>
            <a:r>
              <a:t>Supabase</a:t>
            </a:r>
          </a:p>
          <a:p>
            <a:pPr>
              <a:spcBef>
                <a:spcPts val="600"/>
              </a:spcBef>
              <a:defRPr sz="1200">
                <a:solidFill>
                  <a:srgbClr val="8D929D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4572000"/>
            <a:ext cx="1828800" cy="914400"/>
          </a:xfrm>
          <a:prstGeom prst="roundRect">
            <a:avLst/>
          </a:prstGeom>
          <a:solidFill>
            <a:srgbClr val="1A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defRPr sz="1600" b="1">
                <a:solidFill>
                  <a:srgbClr val="D1B3FF"/>
                </a:solidFill>
                <a:latin typeface="Calibri"/>
              </a:defRPr>
            </a:pPr>
            <a:r>
              <a:t>Job Mgr</a:t>
            </a:r>
          </a:p>
          <a:p>
            <a:pPr>
              <a:spcBef>
                <a:spcPts val="600"/>
              </a:spcBef>
              <a:defRPr sz="1200">
                <a:solidFill>
                  <a:srgbClr val="8D929D"/>
                </a:solidFill>
                <a:latin typeface="Calibri"/>
              </a:defRPr>
            </a:pPr>
            <a:r>
              <a:t>Soroban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4572000"/>
            <a:ext cx="1828800" cy="914400"/>
          </a:xfrm>
          <a:prstGeom prst="roundRect">
            <a:avLst/>
          </a:prstGeom>
          <a:solidFill>
            <a:srgbClr val="1A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defRPr sz="1600" b="1">
                <a:solidFill>
                  <a:srgbClr val="FFD1A9"/>
                </a:solidFill>
                <a:latin typeface="Calibri"/>
              </a:defRPr>
            </a:pPr>
            <a:r>
              <a:t>Escrow</a:t>
            </a:r>
          </a:p>
          <a:p>
            <a:pPr>
              <a:spcBef>
                <a:spcPts val="600"/>
              </a:spcBef>
              <a:defRPr sz="1200">
                <a:solidFill>
                  <a:srgbClr val="8D929D"/>
                </a:solidFill>
                <a:latin typeface="Calibri"/>
              </a:defRPr>
            </a:pPr>
            <a:r>
              <a:t>Soroban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4572000"/>
            <a:ext cx="1828800" cy="914400"/>
          </a:xfrm>
          <a:prstGeom prst="roundRect">
            <a:avLst/>
          </a:prstGeom>
          <a:solidFill>
            <a:srgbClr val="1A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defRPr sz="1600" b="1">
                <a:solidFill>
                  <a:srgbClr val="B3F0FF"/>
                </a:solidFill>
                <a:latin typeface="Calibri"/>
              </a:defRPr>
            </a:pPr>
            <a:r>
              <a:t>Milestones</a:t>
            </a:r>
          </a:p>
          <a:p>
            <a:pPr>
              <a:spcBef>
                <a:spcPts val="600"/>
              </a:spcBef>
              <a:defRPr sz="1200">
                <a:solidFill>
                  <a:srgbClr val="8D929D"/>
                </a:solidFill>
                <a:latin typeface="Calibri"/>
              </a:defRPr>
            </a:pPr>
            <a:r>
              <a:t>Soroban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4572000"/>
            <a:ext cx="1828800" cy="914400"/>
          </a:xfrm>
          <a:prstGeom prst="roundRect">
            <a:avLst/>
          </a:prstGeom>
          <a:solidFill>
            <a:srgbClr val="1A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defRPr sz="1600" b="1">
                <a:solidFill>
                  <a:srgbClr val="B3FFD9"/>
                </a:solidFill>
                <a:latin typeface="Calibri"/>
              </a:defRPr>
            </a:pPr>
            <a:r>
              <a:t>Reputation</a:t>
            </a:r>
          </a:p>
          <a:p>
            <a:pPr>
              <a:spcBef>
                <a:spcPts val="600"/>
              </a:spcBef>
              <a:defRPr sz="1200">
                <a:solidFill>
                  <a:srgbClr val="8D929D"/>
                </a:solidFill>
                <a:latin typeface="Calibri"/>
              </a:defRPr>
            </a:pPr>
            <a:r>
              <a:t>Soroban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D929D"/>
                </a:solidFill>
                <a:latin typeface="Calibri"/>
              </a:defRPr>
            </a:pPr>
            <a:r>
              <a:t>On-chain: lifecycle state, escrow balances, payment rules   •   Off-chain: profiles, job details, submissions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3FFD9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CE8DF"/>
                </a:solidFill>
                <a:latin typeface="Calibri"/>
              </a:defRPr>
            </a:pPr>
            <a:r>
              <a:t>Real users, real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B3D9"/>
                </a:solidFill>
                <a:latin typeface="Calibri"/>
              </a:defRPr>
            </a:pPr>
            <a:r>
              <a:t>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D929D"/>
                </a:solidFill>
                <a:latin typeface="Calibri"/>
              </a:defRPr>
            </a:pPr>
            <a:r>
              <a:t>Testnet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1945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D1B3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D929D"/>
                </a:solidFill>
                <a:latin typeface="Calibri"/>
              </a:defRPr>
            </a:pPr>
            <a:r>
              <a:t>Soroban contracts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B3F0FF"/>
                </a:solidFill>
                <a:latin typeface="Calibri"/>
              </a:defRPr>
            </a:pPr>
            <a:r>
              <a:t>30+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D929D"/>
                </a:solidFill>
                <a:latin typeface="Calibri"/>
              </a:defRPr>
            </a:pPr>
            <a:r>
              <a:t>Commits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1945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176"/>
                </a:solidFill>
                <a:latin typeface="Calibri"/>
              </a:defRPr>
            </a:pPr>
            <a:r>
              <a:t>4.1 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D929D"/>
                </a:solidFill>
                <a:latin typeface="Calibri"/>
              </a:defRPr>
            </a:pPr>
            <a:r>
              <a:t>Avg rating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3383280" cy="1280160"/>
          </a:xfrm>
          <a:prstGeom prst="roundRect">
            <a:avLst/>
          </a:prstGeom>
          <a:solidFill>
            <a:srgbClr val="1A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defRPr sz="1600" b="1">
                <a:solidFill>
                  <a:srgbClr val="B3FFD9"/>
                </a:solidFill>
                <a:latin typeface="Calibri"/>
              </a:defRPr>
            </a:pPr>
            <a:r>
              <a:t>🌐  Live Deployment</a:t>
            </a:r>
          </a:p>
          <a:p>
            <a:pPr>
              <a:spcBef>
                <a:spcPts val="600"/>
              </a:spcBef>
              <a:defRPr sz="1200">
                <a:solidFill>
                  <a:srgbClr val="8D929D"/>
                </a:solidFill>
                <a:latin typeface="Calibri"/>
              </a:defRPr>
            </a:pPr>
            <a:r>
              <a:t>Vercel frontend, Render API,</a:t>
            </a:r>
            <a:br/>
            <a:r>
              <a:t>Stellar Testnet contracts.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4114800"/>
            <a:ext cx="3383280" cy="1280160"/>
          </a:xfrm>
          <a:prstGeom prst="roundRect">
            <a:avLst/>
          </a:prstGeom>
          <a:solidFill>
            <a:srgbClr val="1A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defRPr sz="1600" b="1">
                <a:solidFill>
                  <a:srgbClr val="B3F0FF"/>
                </a:solidFill>
                <a:latin typeface="Calibri"/>
              </a:defRPr>
            </a:pPr>
            <a:r>
              <a:t>📝  Feedback Loop</a:t>
            </a:r>
          </a:p>
          <a:p>
            <a:pPr>
              <a:spcBef>
                <a:spcPts val="600"/>
              </a:spcBef>
              <a:defRPr sz="1200">
                <a:solidFill>
                  <a:srgbClr val="8D929D"/>
                </a:solidFill>
                <a:latin typeface="Calibri"/>
              </a:defRPr>
            </a:pPr>
            <a:r>
              <a:t>Google Form + in-app widget</a:t>
            </a:r>
            <a:br/>
            <a:r>
              <a:t>collecting real suggestions.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114800"/>
            <a:ext cx="3383280" cy="1280160"/>
          </a:xfrm>
          <a:prstGeom prst="roundRect">
            <a:avLst/>
          </a:prstGeom>
          <a:solidFill>
            <a:srgbClr val="1A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defRPr sz="1600" b="1">
                <a:solidFill>
                  <a:srgbClr val="D1B3FF"/>
                </a:solidFill>
                <a:latin typeface="Calibri"/>
              </a:defRPr>
            </a:pPr>
            <a:r>
              <a:t>⚙️  CI Pipeline</a:t>
            </a:r>
          </a:p>
          <a:p>
            <a:pPr>
              <a:spcBef>
                <a:spcPts val="600"/>
              </a:spcBef>
              <a:defRPr sz="1200">
                <a:solidFill>
                  <a:srgbClr val="8D929D"/>
                </a:solidFill>
                <a:latin typeface="Calibri"/>
              </a:defRPr>
            </a:pPr>
            <a:r>
              <a:t>GitHub Actions for frontend,</a:t>
            </a:r>
            <a:br/>
            <a:r>
              <a:t>backend, and contract checks.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176"/>
                </a:solidFill>
                <a:latin typeface="Calibri"/>
              </a:defRPr>
            </a:pPr>
            <a:r>
              <a:t>PRODUCT ITERATION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CE8DF"/>
                </a:solidFill>
                <a:latin typeface="Calibri"/>
              </a:defRPr>
            </a:pPr>
            <a:r>
              <a:t>Built from real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E8DF"/>
                </a:solidFill>
                <a:latin typeface="Calibri"/>
              </a:defRPr>
            </a:pPr>
            <a:r>
              <a:t>Too many wallet transactions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D929D"/>
                </a:solidFill>
                <a:latin typeface="Calibri"/>
              </a:defRPr>
            </a:pPr>
            <a:r>
              <a:t>Single-signature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011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3FFD9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E8DF"/>
                </a:solidFill>
                <a:latin typeface="Calibri"/>
              </a:defRPr>
            </a:pPr>
            <a:r>
              <a:t>No milestone notifications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697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D929D"/>
                </a:solidFill>
                <a:latin typeface="Calibri"/>
              </a:defRPr>
            </a:pPr>
            <a:r>
              <a:t>Client alerts on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2697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3FFD9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E8DF"/>
                </a:solidFill>
                <a:latin typeface="Calibri"/>
              </a:defRPr>
            </a:pPr>
            <a:r>
              <a:t>Job posting feels fragmented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383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D929D"/>
                </a:solidFill>
                <a:latin typeface="Calibri"/>
              </a:defRPr>
            </a:pPr>
            <a:r>
              <a:t>One-click job + escrow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3383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3FFD9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E8DF"/>
                </a:solidFill>
                <a:latin typeface="Calibri"/>
              </a:defRPr>
            </a:pPr>
            <a:r>
              <a:t>Need skill-based filtering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069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D929D"/>
                </a:solidFill>
                <a:latin typeface="Calibri"/>
              </a:defRPr>
            </a:pPr>
            <a:r>
              <a:t>Marketplace skill 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4069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3FFD9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E8DF"/>
                </a:solidFill>
                <a:latin typeface="Calibri"/>
              </a:defRPr>
            </a:pPr>
            <a:r>
              <a:t>Loading states unclear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754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D929D"/>
                </a:solidFill>
                <a:latin typeface="Calibri"/>
              </a:defRPr>
            </a:pPr>
            <a:r>
              <a:t>Transaction feedback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4754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3FFD9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40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E8DF"/>
                </a:solidFill>
                <a:latin typeface="Calibri"/>
              </a:defRPr>
            </a:pPr>
            <a:r>
              <a:t>Want in-app chat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5440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D929D"/>
                </a:solidFill>
                <a:latin typeface="Calibri"/>
              </a:defRPr>
            </a:pPr>
            <a:r>
              <a:t>Roadmap — next phase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5440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176"/>
                </a:solidFill>
                <a:latin typeface="Calibri"/>
              </a:defRPr>
            </a:pPr>
            <a:r>
              <a:t>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B3D9"/>
                </a:solidFill>
                <a:latin typeface="Calibri"/>
              </a:defRPr>
            </a:pPr>
            <a:r>
              <a:t>GROWTH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CE8DF"/>
                </a:solidFill>
                <a:latin typeface="Calibri"/>
              </a:defRPr>
            </a:pPr>
            <a:r>
              <a:t>From testnet to mainnet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3383280" cy="2286000"/>
          </a:xfrm>
          <a:prstGeom prst="roundRect">
            <a:avLst/>
          </a:prstGeom>
          <a:solidFill>
            <a:srgbClr val="1A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defRPr sz="1600" b="1">
                <a:solidFill>
                  <a:srgbClr val="D1B3FF"/>
                </a:solidFill>
                <a:latin typeface="Calibri"/>
              </a:defRPr>
            </a:pPr>
            <a:r>
              <a:t>🎯  Phase 1 — Validate</a:t>
            </a:r>
          </a:p>
          <a:p>
            <a:pPr>
              <a:spcBef>
                <a:spcPts val="600"/>
              </a:spcBef>
              <a:defRPr sz="1200">
                <a:solidFill>
                  <a:srgbClr val="8D929D"/>
                </a:solidFill>
                <a:latin typeface="Calibri"/>
              </a:defRPr>
            </a:pPr>
            <a:r>
              <a:t>Testnet MVP with 50+ users.</a:t>
            </a:r>
            <a:br/>
            <a:r>
              <a:t>Collect feedback, iterate fast,</a:t>
            </a:r>
            <a:br/>
            <a:r>
              <a:t>prove the workflow end-to-end.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194560"/>
            <a:ext cx="3383280" cy="2286000"/>
          </a:xfrm>
          <a:prstGeom prst="roundRect">
            <a:avLst/>
          </a:prstGeom>
          <a:solidFill>
            <a:srgbClr val="1A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defRPr sz="1600" b="1">
                <a:solidFill>
                  <a:srgbClr val="FFB3D9"/>
                </a:solidFill>
                <a:latin typeface="Calibri"/>
              </a:defRPr>
            </a:pPr>
            <a:r>
              <a:t>📈  Phase 2 — Grow</a:t>
            </a:r>
          </a:p>
          <a:p>
            <a:pPr>
              <a:spcBef>
                <a:spcPts val="600"/>
              </a:spcBef>
              <a:defRPr sz="1200">
                <a:solidFill>
                  <a:srgbClr val="8D929D"/>
                </a:solidFill>
                <a:latin typeface="Calibri"/>
              </a:defRPr>
            </a:pPr>
            <a:r>
              <a:t>Mainnet launch with USDC/EURC.</a:t>
            </a:r>
            <a:br/>
            <a:r>
              <a:t>Community ambassadors.</a:t>
            </a:r>
            <a:br/>
            <a:r>
              <a:t>Target Web3 freelancer groups.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194560"/>
            <a:ext cx="3383280" cy="2286000"/>
          </a:xfrm>
          <a:prstGeom prst="roundRect">
            <a:avLst/>
          </a:prstGeom>
          <a:solidFill>
            <a:srgbClr val="1A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defRPr sz="1600" b="1">
                <a:solidFill>
                  <a:srgbClr val="B3F0FF"/>
                </a:solidFill>
                <a:latin typeface="Calibri"/>
              </a:defRPr>
            </a:pPr>
            <a:r>
              <a:t>🌐  Phase 3 — Scale</a:t>
            </a:r>
          </a:p>
          <a:p>
            <a:pPr>
              <a:spcBef>
                <a:spcPts val="600"/>
              </a:spcBef>
              <a:defRPr sz="1200">
                <a:solidFill>
                  <a:srgbClr val="8D929D"/>
                </a:solidFill>
                <a:latin typeface="Calibri"/>
              </a:defRPr>
            </a:pPr>
            <a:r>
              <a:t>Multi-asset escrow, dispute DAO,</a:t>
            </a:r>
            <a:br/>
            <a:r>
              <a:t>mobile app, Stellar ecosystem</a:t>
            </a:r>
            <a:br/>
            <a:r>
              <a:t>partnerships.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3F0FF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CE8DF"/>
                </a:solidFill>
                <a:latin typeface="Calibri"/>
              </a:defRPr>
            </a:pPr>
            <a:r>
              <a:t>What's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383280" cy="1645920"/>
          </a:xfrm>
          <a:prstGeom prst="roundRect">
            <a:avLst/>
          </a:prstGeom>
          <a:solidFill>
            <a:srgbClr val="1A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defRPr sz="1600" b="1">
                <a:solidFill>
                  <a:srgbClr val="FFD1A9"/>
                </a:solidFill>
                <a:latin typeface="Calibri"/>
              </a:defRPr>
            </a:pPr>
            <a:r>
              <a:t>⏱️  Auto-Refund Timers</a:t>
            </a:r>
          </a:p>
          <a:p>
            <a:pPr>
              <a:spcBef>
                <a:spcPts val="600"/>
              </a:spcBef>
              <a:defRPr sz="1200">
                <a:solidFill>
                  <a:srgbClr val="8D929D"/>
                </a:solidFill>
                <a:latin typeface="Calibri"/>
              </a:defRPr>
            </a:pPr>
            <a:r>
              <a:t>Time-locked automatic escrow</a:t>
            </a:r>
            <a:br/>
            <a:r>
              <a:t>refunds for unassigned jobs.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2103120"/>
            <a:ext cx="3383280" cy="1645920"/>
          </a:xfrm>
          <a:prstGeom prst="roundRect">
            <a:avLst/>
          </a:prstGeom>
          <a:solidFill>
            <a:srgbClr val="1A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defRPr sz="1600" b="1">
                <a:solidFill>
                  <a:srgbClr val="B3F0FF"/>
                </a:solidFill>
                <a:latin typeface="Calibri"/>
              </a:defRPr>
            </a:pPr>
            <a:r>
              <a:t>💱  Multi-Asset Payments</a:t>
            </a:r>
          </a:p>
          <a:p>
            <a:pPr>
              <a:spcBef>
                <a:spcPts val="600"/>
              </a:spcBef>
              <a:defRPr sz="1200">
                <a:solidFill>
                  <a:srgbClr val="8D929D"/>
                </a:solidFill>
                <a:latin typeface="Calibri"/>
              </a:defRPr>
            </a:pPr>
            <a:r>
              <a:t>USDC and EURC escrow</a:t>
            </a:r>
            <a:br/>
            <a:r>
              <a:t>alongside XLM.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103120"/>
            <a:ext cx="3383280" cy="1645920"/>
          </a:xfrm>
          <a:prstGeom prst="roundRect">
            <a:avLst/>
          </a:prstGeom>
          <a:solidFill>
            <a:srgbClr val="1A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defRPr sz="1600" b="1">
                <a:solidFill>
                  <a:srgbClr val="D1B3FF"/>
                </a:solidFill>
                <a:latin typeface="Calibri"/>
              </a:defRPr>
            </a:pPr>
            <a:r>
              <a:t>⚖️  Dispute Resolution</a:t>
            </a:r>
          </a:p>
          <a:p>
            <a:pPr>
              <a:spcBef>
                <a:spcPts val="600"/>
              </a:spcBef>
              <a:defRPr sz="1200">
                <a:solidFill>
                  <a:srgbClr val="8D929D"/>
                </a:solidFill>
                <a:latin typeface="Calibri"/>
              </a:defRPr>
            </a:pPr>
            <a:r>
              <a:t>Multi-sig DAO arbitrator</a:t>
            </a:r>
            <a:br/>
            <a:r>
              <a:t>for contested milestones.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3383280" cy="1645920"/>
          </a:xfrm>
          <a:prstGeom prst="roundRect">
            <a:avLst/>
          </a:prstGeom>
          <a:solidFill>
            <a:srgbClr val="1A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defRPr sz="1600" b="1">
                <a:solidFill>
                  <a:srgbClr val="B3FFD9"/>
                </a:solidFill>
                <a:latin typeface="Calibri"/>
              </a:defRPr>
            </a:pPr>
            <a:r>
              <a:t>💬  In-App Chat</a:t>
            </a:r>
          </a:p>
          <a:p>
            <a:pPr>
              <a:spcBef>
                <a:spcPts val="600"/>
              </a:spcBef>
              <a:defRPr sz="1200">
                <a:solidFill>
                  <a:srgbClr val="8D929D"/>
                </a:solidFill>
                <a:latin typeface="Calibri"/>
              </a:defRPr>
            </a:pPr>
            <a:r>
              <a:t>Client-freelancer messaging</a:t>
            </a:r>
            <a:br/>
            <a:r>
              <a:t>tied to active jobs.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4114800"/>
            <a:ext cx="3383280" cy="1645920"/>
          </a:xfrm>
          <a:prstGeom prst="roundRect">
            <a:avLst/>
          </a:prstGeom>
          <a:solidFill>
            <a:srgbClr val="1A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defRPr sz="1600" b="1">
                <a:solidFill>
                  <a:srgbClr val="FFB3D9"/>
                </a:solidFill>
                <a:latin typeface="Calibri"/>
              </a:defRPr>
            </a:pPr>
            <a:r>
              <a:t>📱  Mobile App</a:t>
            </a:r>
          </a:p>
          <a:p>
            <a:pPr>
              <a:spcBef>
                <a:spcPts val="600"/>
              </a:spcBef>
              <a:defRPr sz="1200">
                <a:solidFill>
                  <a:srgbClr val="8D929D"/>
                </a:solidFill>
                <a:latin typeface="Calibri"/>
              </a:defRPr>
            </a:pPr>
            <a:r>
              <a:t>React Native companion</a:t>
            </a:r>
            <a:br/>
            <a:r>
              <a:t>for on-the-go management.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114800"/>
            <a:ext cx="3383280" cy="1645920"/>
          </a:xfrm>
          <a:prstGeom prst="roundRect">
            <a:avLst/>
          </a:prstGeom>
          <a:solidFill>
            <a:srgbClr val="1A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defRPr sz="1600" b="1">
                <a:solidFill>
                  <a:srgbClr val="FFF176"/>
                </a:solidFill>
                <a:latin typeface="Calibri"/>
              </a:defRPr>
            </a:pPr>
            <a:r>
              <a:t>⭐  On-chain Reviews</a:t>
            </a:r>
          </a:p>
          <a:p>
            <a:pPr>
              <a:spcBef>
                <a:spcPts val="600"/>
              </a:spcBef>
              <a:defRPr sz="1200">
                <a:solidFill>
                  <a:srgbClr val="8D929D"/>
                </a:solidFill>
                <a:latin typeface="Calibri"/>
              </a:defRPr>
            </a:pPr>
            <a:r>
              <a:t>Verifiable reputation scores</a:t>
            </a:r>
            <a:br/>
            <a:r>
              <a:t>backed by Soroban.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ECE8DF"/>
                </a:solidFill>
                <a:latin typeface="Calibri"/>
              </a:defRPr>
            </a:pPr>
            <a:r>
              <a:t>SkillX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92608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D929D"/>
                </a:solidFill>
                <a:latin typeface="Calibri"/>
              </a:defRPr>
            </a:pPr>
            <a:r>
              <a:t>The future of freelance work is trustless, instant, and global.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3F0FF"/>
                </a:solidFill>
                <a:latin typeface="Calibri"/>
              </a:defRPr>
            </a:pPr>
            <a:r>
              <a:t>🌐  skill-x-nu.vercel.app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D929D"/>
                </a:solidFill>
                <a:latin typeface="Calibri"/>
              </a:defRPr>
            </a:pPr>
            <a:r>
              <a:t>Live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1B3FF"/>
                </a:solidFill>
                <a:latin typeface="Calibri"/>
              </a:defRPr>
            </a:pPr>
            <a:r>
              <a:t>📺  YouTube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4572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D929D"/>
                </a:solidFill>
                <a:latin typeface="Calibri"/>
              </a:defRPr>
            </a:pPr>
            <a:r>
              <a:t>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3FFD9"/>
                </a:solidFill>
                <a:latin typeface="Calibri"/>
              </a:defRPr>
            </a:pPr>
            <a:r>
              <a:t>💻  Madhav0Seth/SkillX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4572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D929D"/>
                </a:solidFill>
                <a:latin typeface="Calibri"/>
              </a:defRPr>
            </a:pPr>
            <a:r>
              <a:t>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66928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D929D"/>
                </a:solidFill>
                <a:latin typeface="Calibri"/>
              </a:defRPr>
            </a:pPr>
            <a:r>
              <a:t>Soroban  •  React  •  Express  •  Supabase  •  Freighter  •  Rust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